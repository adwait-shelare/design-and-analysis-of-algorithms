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7.png"/><Relationship Id="rId8" Type="http://schemas.openxmlformats.org/officeDocument/2006/relationships/image" Target="../media/image-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18bfb30f1ccbd9a59d9aa28c563edb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abec722cb7ddf9722a702ef21ebd08b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761695"/>
            <a:ext cx="22860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696505"/>
            <a:ext cx="2305202" cy="1047902"/>
          </a:xfrm>
          <a:prstGeom prst="roundRect">
            <a:avLst>
              <a:gd name="adj" fmla="val 7243"/>
            </a:avLst>
          </a:prstGeom>
          <a:solidFill>
            <a:srgbClr val="16223D">
              <a:alpha val="6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3619195" y="7696505"/>
            <a:ext cx="2305202" cy="1047902"/>
          </a:xfrm>
          <a:prstGeom prst="roundRect">
            <a:avLst>
              <a:gd name="adj" fmla="val 7243"/>
            </a:avLst>
          </a:prstGeom>
          <a:solidFill>
            <a:srgbClr val="16223D">
              <a:alpha val="6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096305" y="7696505"/>
            <a:ext cx="2115007" cy="1047902"/>
          </a:xfrm>
          <a:prstGeom prst="roundRect">
            <a:avLst>
              <a:gd name="adj" fmla="val 7243"/>
            </a:avLst>
          </a:prstGeom>
          <a:solidFill>
            <a:srgbClr val="16223D">
              <a:alpha val="6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382305" y="7696505"/>
            <a:ext cx="2305202" cy="1047902"/>
          </a:xfrm>
          <a:prstGeom prst="roundRect">
            <a:avLst>
              <a:gd name="adj" fmla="val 7243"/>
            </a:avLst>
          </a:prstGeom>
          <a:solidFill>
            <a:srgbClr val="16223D">
              <a:alpha val="6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2" descr="gen-dedup-a0ca1335a3d7bffca4649b49acb9212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858500" y="1333195"/>
            <a:ext cx="6858000" cy="6858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1218895"/>
            <a:ext cx="8572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528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</a:t>
            </a:r>
            <a:endParaRPr lang="en-US" sz="165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1695298"/>
            <a:ext cx="8572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LECTURE-WALKTHROUGH · GRAPH ALGORITHMS · GREEDY METHOD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123798" y="2553005"/>
            <a:ext cx="11239805" cy="236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0" b="1" spc="-186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pPr algn="l" indent="0" marL="0">
              <a:lnSpc>
                <a:spcPct val="100000"/>
              </a:lnSpc>
              <a:buNone/>
            </a:pPr>
            <a:endParaRPr lang="en-US" sz="9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00" b="1" spc="-186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Spanning Tree</a:t>
            </a:r>
            <a:endParaRPr lang="en-US" sz="9300" dirty="0"/>
          </a:p>
        </p:txBody>
      </p:sp>
      <p:sp>
        <p:nvSpPr>
          <p:cNvPr id="12" name="Text 7"/>
          <p:cNvSpPr txBox="1"/>
          <p:nvPr/>
        </p:nvSpPr>
        <p:spPr>
          <a:xfrm>
            <a:off x="1162202" y="5391302"/>
            <a:ext cx="104781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spc="-46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Prim’s Algorithm</a:t>
            </a:r>
            <a:endParaRPr lang="en-US" sz="4650" dirty="0"/>
          </a:p>
        </p:txBody>
      </p:sp>
      <p:pic>
        <p:nvPicPr>
          <p:cNvPr id="13" name="Image 3" descr="gen-dedup-604edddd4ae0ac3b12697a39680d5f31.png">    </p:cNvPr>
          <p:cNvPicPr>
            <a:picLocks noChangeAspect="1"/>
          </p:cNvPicPr>
          <p:nvPr/>
        </p:nvPicPr>
        <p:blipFill>
          <a:blip r:embed="rId4"/>
          <a:srcRect l="-404" r="-404" t="0" b="0"/>
          <a:stretch/>
        </p:blipFill>
        <p:spPr>
          <a:xfrm>
            <a:off x="1162202" y="6362395"/>
            <a:ext cx="800100" cy="2834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62202" y="6629400"/>
            <a:ext cx="9906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cheapest connected network, one vertex at a time — a step-by-step walkthrough.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333195" y="7867498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75" dirty="0"/>
          </a:p>
        </p:txBody>
      </p:sp>
      <p:pic>
        <p:nvPicPr>
          <p:cNvPr id="16" name="Image 4" descr="gen-dedup-7ce6b898b975dd25723501cbe7a42718.png">    </p:cNvPr>
          <p:cNvPicPr>
            <a:picLocks noChangeAspect="1"/>
          </p:cNvPicPr>
          <p:nvPr/>
        </p:nvPicPr>
        <p:blipFill>
          <a:blip r:embed="rId5"/>
          <a:srcRect l="-2089" r="-2089" t="0" b="0"/>
          <a:stretch/>
        </p:blipFill>
        <p:spPr>
          <a:xfrm>
            <a:off x="1333195" y="8201254"/>
            <a:ext cx="1619402" cy="91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810305" y="7867498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75" dirty="0"/>
          </a:p>
        </p:txBody>
      </p:sp>
      <p:pic>
        <p:nvPicPr>
          <p:cNvPr id="18" name="Image 5" descr="gen-dedup-7ce6b898b975dd25723501cbe7a42718.png">    </p:cNvPr>
          <p:cNvPicPr>
            <a:picLocks noChangeAspect="1"/>
          </p:cNvPicPr>
          <p:nvPr/>
        </p:nvPicPr>
        <p:blipFill>
          <a:blip r:embed="rId6"/>
          <a:srcRect l="-2089" r="-2089" t="0" b="0"/>
          <a:stretch/>
        </p:blipFill>
        <p:spPr>
          <a:xfrm>
            <a:off x="3810305" y="8201254"/>
            <a:ext cx="1619402" cy="914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286500" y="7867498"/>
            <a:ext cx="1714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975" dirty="0"/>
          </a:p>
        </p:txBody>
      </p:sp>
      <p:pic>
        <p:nvPicPr>
          <p:cNvPr id="20" name="Image 6" descr="gen-dedup-4e48c0c2a919070a8fda0364ad319d36.png">    </p:cNvPr>
          <p:cNvPicPr>
            <a:picLocks noChangeAspect="1"/>
          </p:cNvPicPr>
          <p:nvPr/>
        </p:nvPicPr>
        <p:blipFill>
          <a:blip r:embed="rId7"/>
          <a:srcRect l="-2100" r="-2100" t="0" b="0"/>
          <a:stretch/>
        </p:blipFill>
        <p:spPr>
          <a:xfrm>
            <a:off x="6286500" y="8201254"/>
            <a:ext cx="1429207" cy="914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572500" y="7867498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975" dirty="0"/>
          </a:p>
        </p:txBody>
      </p:sp>
      <p:pic>
        <p:nvPicPr>
          <p:cNvPr id="22" name="Image 7" descr="gen-dedup-7ce6b898b975dd25723501cbe7a42718.png">    </p:cNvPr>
          <p:cNvPicPr>
            <a:picLocks noChangeAspect="1"/>
          </p:cNvPicPr>
          <p:nvPr/>
        </p:nvPicPr>
        <p:blipFill>
          <a:blip r:embed="rId8"/>
          <a:srcRect l="-2089" r="-2089" t="0" b="0"/>
          <a:stretch/>
        </p:blipFill>
        <p:spPr>
          <a:xfrm>
            <a:off x="8572500" y="8201254"/>
            <a:ext cx="1619402" cy="914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143000" y="9496044"/>
            <a:ext cx="1524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· Subject: Design and Analysis of Algorithms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e9f80b7f9295102ad5f844cda76b56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5f20763ea77decba87598c52d42ec03b.png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11430000" y="6953098"/>
            <a:ext cx="4953305" cy="2286000"/>
          </a:xfrm>
          <a:prstGeom prst="rect">
            <a:avLst/>
          </a:prstGeom>
        </p:spPr>
      </p:pic>
      <p:pic>
        <p:nvPicPr>
          <p:cNvPr id="4" name="Image 2" descr="gen-dedup-131ba26e958c41057b19a732206fb120.png">    </p:cNvPr>
          <p:cNvPicPr>
            <a:picLocks noChangeAspect="1"/>
          </p:cNvPicPr>
          <p:nvPr/>
        </p:nvPicPr>
        <p:blipFill>
          <a:blip r:embed="rId3"/>
          <a:srcRect l="0" r="0" t="-6" b="-6"/>
          <a:stretch/>
        </p:blipFill>
        <p:spPr>
          <a:xfrm>
            <a:off x="1143000" y="3504895"/>
            <a:ext cx="7830007" cy="2686507"/>
          </a:xfrm>
          <a:prstGeom prst="rect">
            <a:avLst/>
          </a:prstGeom>
        </p:spPr>
      </p:pic>
      <p:pic>
        <p:nvPicPr>
          <p:cNvPr id="5" name="Image 3" descr="gen-dedup-131ba26e958c41057b19a732206fb120.png">    </p:cNvPr>
          <p:cNvPicPr>
            <a:picLocks noChangeAspect="1"/>
          </p:cNvPicPr>
          <p:nvPr/>
        </p:nvPicPr>
        <p:blipFill>
          <a:blip r:embed="rId4"/>
          <a:srcRect l="0" r="0" t="-6" b="-6"/>
          <a:stretch/>
        </p:blipFill>
        <p:spPr>
          <a:xfrm>
            <a:off x="9334195" y="3504895"/>
            <a:ext cx="7830007" cy="2686507"/>
          </a:xfrm>
          <a:prstGeom prst="rect">
            <a:avLst/>
          </a:prstGeom>
        </p:spPr>
      </p:pic>
      <p:pic>
        <p:nvPicPr>
          <p:cNvPr id="6" name="Image 4" descr="gen-dedup-131ba26e958c41057b19a732206fb120.png">    </p:cNvPr>
          <p:cNvPicPr>
            <a:picLocks noChangeAspect="1"/>
          </p:cNvPicPr>
          <p:nvPr/>
        </p:nvPicPr>
        <p:blipFill>
          <a:blip r:embed="rId5"/>
          <a:srcRect l="0" r="0" t="-6" b="-6"/>
          <a:stretch/>
        </p:blipFill>
        <p:spPr>
          <a:xfrm>
            <a:off x="1143000" y="6476695"/>
            <a:ext cx="7830007" cy="2686507"/>
          </a:xfrm>
          <a:prstGeom prst="rect">
            <a:avLst/>
          </a:prstGeom>
        </p:spPr>
      </p:pic>
      <p:pic>
        <p:nvPicPr>
          <p:cNvPr id="7" name="Image 5" descr="gen-dedup-7567d3cc02e9166c5ee5b3f3bf1b04d8.png">    </p:cNvPr>
          <p:cNvPicPr>
            <a:picLocks noChangeAspect="1"/>
          </p:cNvPicPr>
          <p:nvPr/>
        </p:nvPicPr>
        <p:blipFill>
          <a:blip r:embed="rId6"/>
          <a:srcRect l="0" r="0" t="-6" b="-6"/>
          <a:stretch/>
        </p:blipFill>
        <p:spPr>
          <a:xfrm>
            <a:off x="9334195" y="6476695"/>
            <a:ext cx="7830007" cy="2686507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143000" y="857707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Concepts</a:t>
            </a:r>
            <a:endParaRPr lang="en-US" sz="1350" dirty="0"/>
          </a:p>
        </p:txBody>
      </p:sp>
      <p:sp>
        <p:nvSpPr>
          <p:cNvPr id="9" name="Text 1"/>
          <p:cNvSpPr txBox="1"/>
          <p:nvPr/>
        </p:nvSpPr>
        <p:spPr>
          <a:xfrm>
            <a:off x="1123798" y="1218895"/>
            <a:ext cx="13335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small definitions —</a:t>
            </a:r>
            <a:pPr algn="l" indent="0" marL="0">
              <a:lnSpc>
                <a:spcPct val="105000"/>
              </a:lnSpc>
              <a:buNone/>
            </a:pPr>
            <a:endParaRPr lang="en-US" sz="4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F5B9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one way to build the cheapest.</a:t>
            </a:r>
            <a:endParaRPr lang="en-US" sz="4800" dirty="0"/>
          </a:p>
        </p:txBody>
      </p:sp>
      <p:pic>
        <p:nvPicPr>
          <p:cNvPr id="10" name="Image 6" descr="gen-dedup-845e6096dc37de69505576a0b1599687.png">    </p:cNvPr>
          <p:cNvPicPr>
            <a:picLocks noChangeAspect="1"/>
          </p:cNvPicPr>
          <p:nvPr/>
        </p:nvPicPr>
        <p:blipFill>
          <a:blip r:embed="rId7"/>
          <a:srcRect l="0" r="0" t="-390" b="-390"/>
          <a:stretch/>
        </p:blipFill>
        <p:spPr>
          <a:xfrm>
            <a:off x="1143000" y="2971800"/>
            <a:ext cx="1524305" cy="19202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1447495" y="373349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definition</a:t>
            </a:r>
            <a:endParaRPr lang="en-US" sz="1050" dirty="0"/>
          </a:p>
        </p:txBody>
      </p:sp>
      <p:sp>
        <p:nvSpPr>
          <p:cNvPr id="12" name="Text 3"/>
          <p:cNvSpPr txBox="1"/>
          <p:nvPr/>
        </p:nvSpPr>
        <p:spPr>
          <a:xfrm>
            <a:off x="1447495" y="3943807"/>
            <a:ext cx="2857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3150" dirty="0"/>
          </a:p>
        </p:txBody>
      </p:sp>
      <p:sp>
        <p:nvSpPr>
          <p:cNvPr id="13" name="Text 4"/>
          <p:cNvSpPr txBox="1"/>
          <p:nvPr/>
        </p:nvSpPr>
        <p:spPr>
          <a:xfrm>
            <a:off x="1447495" y="4554626"/>
            <a:ext cx="2857500" cy="1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vertices joined by edges.</a:t>
            </a:r>
            <a:pPr algn="l" indent="0" marL="0">
              <a:lnSpc>
                <a:spcPts val="2392"/>
              </a:lnSpc>
              <a:buNone/>
            </a:pPr>
            <a:endParaRPr lang="en-US" sz="1650" dirty="0"/>
          </a:p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may carry a weight.</a:t>
            </a:r>
            <a:endParaRPr lang="en-US" sz="1650" dirty="0"/>
          </a:p>
        </p:txBody>
      </p:sp>
      <p:sp>
        <p:nvSpPr>
          <p:cNvPr id="14" name="Text 5"/>
          <p:cNvSpPr txBox="1"/>
          <p:nvPr/>
        </p:nvSpPr>
        <p:spPr>
          <a:xfrm>
            <a:off x="1447495" y="5968289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E)</a:t>
            </a:r>
            <a:endParaRPr lang="en-US" sz="1350" dirty="0"/>
          </a:p>
        </p:txBody>
      </p:sp>
      <p:pic>
        <p:nvPicPr>
          <p:cNvPr id="15" name="Image 7" descr="gen-dedup-9c5637dc2e9d2569bb78283d03f059cd.png">    </p:cNvPr>
          <p:cNvPicPr>
            <a:picLocks noChangeAspect="1"/>
          </p:cNvPicPr>
          <p:nvPr/>
        </p:nvPicPr>
        <p:blipFill>
          <a:blip r:embed="rId8"/>
          <a:srcRect l="0" r="0" t="-26353" b="-26353"/>
          <a:stretch/>
        </p:blipFill>
        <p:spPr>
          <a:xfrm>
            <a:off x="6476695" y="3771900"/>
            <a:ext cx="2286000" cy="2133295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9639605" y="3733495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subset</a:t>
            </a:r>
            <a:endParaRPr lang="en-US" sz="1050" dirty="0"/>
          </a:p>
        </p:txBody>
      </p:sp>
      <p:sp>
        <p:nvSpPr>
          <p:cNvPr id="17" name="Text 7"/>
          <p:cNvSpPr txBox="1"/>
          <p:nvPr/>
        </p:nvSpPr>
        <p:spPr>
          <a:xfrm>
            <a:off x="9639605" y="3943807"/>
            <a:ext cx="3620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Spanning Tree</a:t>
            </a:r>
            <a:endParaRPr lang="en-US" sz="3150" dirty="0"/>
          </a:p>
        </p:txBody>
      </p:sp>
      <p:sp>
        <p:nvSpPr>
          <p:cNvPr id="18" name="Text 8"/>
          <p:cNvSpPr txBox="1"/>
          <p:nvPr/>
        </p:nvSpPr>
        <p:spPr>
          <a:xfrm>
            <a:off x="9639605" y="4554626"/>
            <a:ext cx="362011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every vertex using</a:t>
            </a:r>
            <a:pPr algn="l" indent="0" marL="0">
              <a:lnSpc>
                <a:spcPts val="2392"/>
              </a:lnSpc>
              <a:buNone/>
            </a:pPr>
            <a:endParaRPr lang="en-US" sz="1650" dirty="0"/>
          </a:p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 − 1) edges, no cycles.</a:t>
            </a:r>
            <a:endParaRPr lang="en-US" sz="1650" dirty="0"/>
          </a:p>
        </p:txBody>
      </p:sp>
      <p:sp>
        <p:nvSpPr>
          <p:cNvPr id="19" name="Text 9"/>
          <p:cNvSpPr txBox="1"/>
          <p:nvPr/>
        </p:nvSpPr>
        <p:spPr>
          <a:xfrm>
            <a:off x="9639605" y="5360213"/>
            <a:ext cx="3620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vertices · |V|−1 edges · 0 cycles</a:t>
            </a:r>
            <a:endParaRPr lang="en-US" sz="1350" dirty="0"/>
          </a:p>
        </p:txBody>
      </p:sp>
      <p:pic>
        <p:nvPicPr>
          <p:cNvPr id="20" name="Image 8" descr="gen-dedup-b8ccb97100f90ab499d1b4bcf2390676.png">    </p:cNvPr>
          <p:cNvPicPr>
            <a:picLocks noChangeAspect="1"/>
          </p:cNvPicPr>
          <p:nvPr/>
        </p:nvPicPr>
        <p:blipFill>
          <a:blip r:embed="rId9"/>
          <a:srcRect l="0" r="0" t="-33282" b="-33282"/>
          <a:stretch/>
        </p:blipFill>
        <p:spPr>
          <a:xfrm>
            <a:off x="14859000" y="3771900"/>
            <a:ext cx="2095805" cy="213329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447495" y="6705295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minimum</a:t>
            </a:r>
            <a:endParaRPr lang="en-US" sz="1050" dirty="0"/>
          </a:p>
        </p:txBody>
      </p:sp>
      <p:sp>
        <p:nvSpPr>
          <p:cNvPr id="22" name="Text 11"/>
          <p:cNvSpPr txBox="1"/>
          <p:nvPr/>
        </p:nvSpPr>
        <p:spPr>
          <a:xfrm>
            <a:off x="1447495" y="6915607"/>
            <a:ext cx="36201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Spanning Tree</a:t>
            </a:r>
            <a:endParaRPr lang="en-US" sz="3150" dirty="0"/>
          </a:p>
        </p:txBody>
      </p:sp>
      <p:sp>
        <p:nvSpPr>
          <p:cNvPr id="23" name="Text 12"/>
          <p:cNvSpPr txBox="1"/>
          <p:nvPr/>
        </p:nvSpPr>
        <p:spPr>
          <a:xfrm>
            <a:off x="1447495" y="8058607"/>
            <a:ext cx="3620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whose total edge weight is the smallest possible.</a:t>
            </a:r>
            <a:endParaRPr lang="en-US" sz="1650" dirty="0"/>
          </a:p>
        </p:txBody>
      </p:sp>
      <p:sp>
        <p:nvSpPr>
          <p:cNvPr id="24" name="Text 13"/>
          <p:cNvSpPr txBox="1"/>
          <p:nvPr/>
        </p:nvSpPr>
        <p:spPr>
          <a:xfrm>
            <a:off x="1447495" y="8836762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Σ w(e)</a:t>
            </a:r>
            <a:endParaRPr lang="en-US" sz="1350" dirty="0"/>
          </a:p>
        </p:txBody>
      </p:sp>
      <p:pic>
        <p:nvPicPr>
          <p:cNvPr id="25" name="Image 9" descr="gen-dedup-0f8cb0b06b5ed833bd191b35169da182.png">    </p:cNvPr>
          <p:cNvPicPr>
            <a:picLocks noChangeAspect="1"/>
          </p:cNvPicPr>
          <p:nvPr/>
        </p:nvPicPr>
        <p:blipFill>
          <a:blip r:embed="rId10"/>
          <a:srcRect l="0" r="0" t="-26353" b="-26353"/>
          <a:stretch/>
        </p:blipFill>
        <p:spPr>
          <a:xfrm>
            <a:off x="6476695" y="6743700"/>
            <a:ext cx="2286000" cy="213329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9639605" y="6705295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the idea</a:t>
            </a:r>
            <a:endParaRPr lang="en-US" sz="1050" dirty="0"/>
          </a:p>
        </p:txBody>
      </p:sp>
      <p:sp>
        <p:nvSpPr>
          <p:cNvPr id="27" name="Text 15"/>
          <p:cNvSpPr txBox="1"/>
          <p:nvPr/>
        </p:nvSpPr>
        <p:spPr>
          <a:xfrm>
            <a:off x="9639605" y="6915607"/>
            <a:ext cx="3620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Prim’s Idea</a:t>
            </a:r>
            <a:endParaRPr lang="en-US" sz="3150" dirty="0"/>
          </a:p>
        </p:txBody>
      </p:sp>
      <p:sp>
        <p:nvSpPr>
          <p:cNvPr id="28" name="Text 16"/>
          <p:cNvSpPr txBox="1"/>
          <p:nvPr/>
        </p:nvSpPr>
        <p:spPr>
          <a:xfrm>
            <a:off x="9639605" y="7526426"/>
            <a:ext cx="3620110" cy="1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any vertex. Grow the tree</a:t>
            </a:r>
            <a:pPr algn="l" indent="0" marL="0">
              <a:lnSpc>
                <a:spcPts val="2392"/>
              </a:lnSpc>
              <a:buNone/>
            </a:pPr>
            <a:endParaRPr lang="en-US" sz="1650" dirty="0"/>
          </a:p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always picking the cheapest edge</a:t>
            </a:r>
            <a:pPr algn="l" indent="0" marL="0">
              <a:lnSpc>
                <a:spcPts val="2392"/>
              </a:lnSpc>
              <a:buNone/>
            </a:pPr>
            <a:endParaRPr lang="en-US" sz="1650" dirty="0"/>
          </a:p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reaches a new vertex.</a:t>
            </a:r>
            <a:endParaRPr lang="en-US" sz="1650" dirty="0"/>
          </a:p>
        </p:txBody>
      </p:sp>
      <p:sp>
        <p:nvSpPr>
          <p:cNvPr id="29" name="Text 17"/>
          <p:cNvSpPr txBox="1"/>
          <p:nvPr/>
        </p:nvSpPr>
        <p:spPr>
          <a:xfrm>
            <a:off x="9639605" y="8901684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· vertex-based</a:t>
            </a:r>
            <a:endParaRPr lang="en-US" sz="1350" dirty="0"/>
          </a:p>
        </p:txBody>
      </p:sp>
      <p:pic>
        <p:nvPicPr>
          <p:cNvPr id="30" name="Image 10" descr="gen-dedup-173471a674a0afd7732f94536860ba1a.png">    </p:cNvPr>
          <p:cNvPicPr>
            <a:picLocks noChangeAspect="1"/>
          </p:cNvPicPr>
          <p:nvPr/>
        </p:nvPicPr>
        <p:blipFill>
          <a:blip r:embed="rId11"/>
          <a:srcRect l="0" r="0" t="-4824" b="-4824"/>
          <a:stretch/>
        </p:blipFill>
        <p:spPr>
          <a:xfrm>
            <a:off x="14382598" y="6858000"/>
            <a:ext cx="2286000" cy="17903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cd8a6cae066b8431d221eee29d6a35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84d9f7064edb875ee63d8ea36ec79db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4419295"/>
            <a:ext cx="16763695" cy="228600"/>
          </a:xfrm>
          <a:prstGeom prst="rect">
            <a:avLst/>
          </a:prstGeom>
        </p:spPr>
      </p:pic>
      <p:pic>
        <p:nvPicPr>
          <p:cNvPr id="4" name="Image 2" descr="gen-dedup-687e0afa0cffc400778010cdb3499c1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3000" y="2819095"/>
            <a:ext cx="3219602" cy="3448202"/>
          </a:xfrm>
          <a:prstGeom prst="rect">
            <a:avLst/>
          </a:prstGeom>
        </p:spPr>
      </p:pic>
      <p:pic>
        <p:nvPicPr>
          <p:cNvPr id="5" name="Image 3" descr="gen-dedup-687e0afa0cffc400778010cdb3499c15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3595" y="2819095"/>
            <a:ext cx="3219602" cy="3448202"/>
          </a:xfrm>
          <a:prstGeom prst="rect">
            <a:avLst/>
          </a:prstGeom>
        </p:spPr>
      </p:pic>
      <p:pic>
        <p:nvPicPr>
          <p:cNvPr id="6" name="Image 4" descr="gen-dedup-687e0afa0cffc400778010cdb3499c1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25105" y="2819095"/>
            <a:ext cx="3219602" cy="3448202"/>
          </a:xfrm>
          <a:prstGeom prst="rect">
            <a:avLst/>
          </a:prstGeom>
        </p:spPr>
      </p:pic>
      <p:pic>
        <p:nvPicPr>
          <p:cNvPr id="7" name="Image 5" descr="gen-dedup-687e0afa0cffc400778010cdb3499c15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315700" y="2819095"/>
            <a:ext cx="3219602" cy="3448202"/>
          </a:xfrm>
          <a:prstGeom prst="rect">
            <a:avLst/>
          </a:prstGeom>
        </p:spPr>
      </p:pic>
      <p:pic>
        <p:nvPicPr>
          <p:cNvPr id="8" name="Image 6" descr="gen-dedup-0d806e1ded1376e4c639bd944e52e735.png">    </p:cNvPr>
          <p:cNvPicPr>
            <a:picLocks noChangeAspect="1"/>
          </p:cNvPicPr>
          <p:nvPr/>
        </p:nvPicPr>
        <p:blipFill>
          <a:blip r:embed="rId7"/>
          <a:srcRect l="-7" r="-7" t="0" b="0"/>
          <a:stretch/>
        </p:blipFill>
        <p:spPr>
          <a:xfrm>
            <a:off x="14706295" y="2819095"/>
            <a:ext cx="2457907" cy="3448202"/>
          </a:xfrm>
          <a:prstGeom prst="rect">
            <a:avLst/>
          </a:prstGeom>
        </p:spPr>
      </p:pic>
      <p:pic>
        <p:nvPicPr>
          <p:cNvPr id="9" name="Image 7" descr="gen-dedup-3fca6b129a5bb83316661cb357442df1.png">    </p:cNvPr>
          <p:cNvPicPr>
            <a:picLocks noChangeAspect="1"/>
          </p:cNvPicPr>
          <p:nvPr/>
        </p:nvPicPr>
        <p:blipFill>
          <a:blip r:embed="rId8"/>
          <a:srcRect l="0" r="0" t="-8" b="-8"/>
          <a:stretch/>
        </p:blipFill>
        <p:spPr>
          <a:xfrm>
            <a:off x="1143000" y="6782105"/>
            <a:ext cx="10306202" cy="2686507"/>
          </a:xfrm>
          <a:prstGeom prst="rect">
            <a:avLst/>
          </a:prstGeom>
        </p:spPr>
      </p:pic>
      <p:pic>
        <p:nvPicPr>
          <p:cNvPr id="10" name="Image 8" descr="gen-dedup-3e9e61a25f189aebce5ed4e0c6ef0300.png">    </p:cNvPr>
          <p:cNvPicPr>
            <a:picLocks noChangeAspect="1"/>
          </p:cNvPicPr>
          <p:nvPr/>
        </p:nvPicPr>
        <p:blipFill>
          <a:blip r:embed="rId9"/>
          <a:srcRect l="0" r="0" t="-10" b="-10"/>
          <a:stretch/>
        </p:blipFill>
        <p:spPr>
          <a:xfrm>
            <a:off x="11811305" y="6782105"/>
            <a:ext cx="5352898" cy="2686507"/>
          </a:xfrm>
          <a:prstGeom prst="rect">
            <a:avLst/>
          </a:prstGeom>
        </p:spPr>
      </p:pic>
      <p:sp>
        <p:nvSpPr>
          <p:cNvPr id="11" name="Text 0"/>
          <p:cNvSpPr txBox="1"/>
          <p:nvPr/>
        </p:nvSpPr>
        <p:spPr>
          <a:xfrm>
            <a:off x="1143000" y="857707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How it operates</a:t>
            </a:r>
            <a:endParaRPr lang="en-US" sz="1350" dirty="0"/>
          </a:p>
        </p:txBody>
      </p:sp>
      <p:sp>
        <p:nvSpPr>
          <p:cNvPr id="12" name="Text 1"/>
          <p:cNvSpPr txBox="1"/>
          <p:nvPr/>
        </p:nvSpPr>
        <p:spPr>
          <a:xfrm>
            <a:off x="1123798" y="1218895"/>
            <a:ext cx="16573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steps. </a:t>
            </a:r>
            <a:pPr algn="l" indent="0" marL="0">
              <a:buNone/>
            </a:pPr>
            <a:r>
              <a:rPr lang="en-US" sz="4800" b="1" spc="-72" kern="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</a:t>
            </a:r>
            <a:pPr algn="l" indent="0" marL="0">
              <a:buNone/>
            </a:pPr>
            <a:r>
              <a:rPr lang="en-US" sz="4800" b="1" spc="-72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until every vertex is in.</a:t>
            </a:r>
            <a:endParaRPr lang="en-US" sz="4800" dirty="0"/>
          </a:p>
        </p:txBody>
      </p:sp>
      <p:pic>
        <p:nvPicPr>
          <p:cNvPr id="13" name="Image 9" descr="gen-dedup-d609985f2762cc8a5350bd2d06f4e7dd.png">    </p:cNvPr>
          <p:cNvPicPr>
            <a:picLocks noChangeAspect="1"/>
          </p:cNvPicPr>
          <p:nvPr/>
        </p:nvPicPr>
        <p:blipFill>
          <a:blip r:embed="rId10"/>
          <a:srcRect l="0" r="0" t="-390" b="-390"/>
          <a:stretch/>
        </p:blipFill>
        <p:spPr>
          <a:xfrm>
            <a:off x="1143000" y="2286000"/>
            <a:ext cx="1524305" cy="19202"/>
          </a:xfrm>
          <a:prstGeom prst="rect">
            <a:avLst/>
          </a:prstGeom>
        </p:spPr>
      </p:pic>
      <p:sp>
        <p:nvSpPr>
          <p:cNvPr id="14" name="Text 2"/>
          <p:cNvSpPr txBox="1"/>
          <p:nvPr/>
        </p:nvSpPr>
        <p:spPr>
          <a:xfrm>
            <a:off x="1410005" y="304769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EEAD4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500" dirty="0"/>
          </a:p>
        </p:txBody>
      </p:sp>
      <p:sp>
        <p:nvSpPr>
          <p:cNvPr id="15" name="Shape 3"/>
          <p:cNvSpPr/>
          <p:nvPr/>
        </p:nvSpPr>
        <p:spPr>
          <a:xfrm>
            <a:off x="1410005" y="3924605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4"/>
          <p:cNvSpPr txBox="1"/>
          <p:nvPr/>
        </p:nvSpPr>
        <p:spPr>
          <a:xfrm>
            <a:off x="1410005" y="4591202"/>
            <a:ext cx="2667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anywhere</a:t>
            </a:r>
            <a:endParaRPr lang="en-US" sz="1950" dirty="0"/>
          </a:p>
        </p:txBody>
      </p:sp>
      <p:sp>
        <p:nvSpPr>
          <p:cNvPr id="17" name="Text 5"/>
          <p:cNvSpPr txBox="1"/>
          <p:nvPr/>
        </p:nvSpPr>
        <p:spPr>
          <a:xfrm>
            <a:off x="1410005" y="5029200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vertex. It becomes the seed of the tree.</a:t>
            </a:r>
            <a:endParaRPr lang="en-US" sz="1350" dirty="0"/>
          </a:p>
        </p:txBody>
      </p:sp>
      <p:sp>
        <p:nvSpPr>
          <p:cNvPr id="18" name="Text 6"/>
          <p:cNvSpPr txBox="1"/>
          <p:nvPr/>
        </p:nvSpPr>
        <p:spPr>
          <a:xfrm>
            <a:off x="4800600" y="304769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EEAD4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500" dirty="0"/>
          </a:p>
        </p:txBody>
      </p:sp>
      <p:sp>
        <p:nvSpPr>
          <p:cNvPr id="19" name="Shape 7"/>
          <p:cNvSpPr/>
          <p:nvPr/>
        </p:nvSpPr>
        <p:spPr>
          <a:xfrm>
            <a:off x="4800600" y="3924605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8"/>
          <p:cNvSpPr txBox="1"/>
          <p:nvPr/>
        </p:nvSpPr>
        <p:spPr>
          <a:xfrm>
            <a:off x="4800600" y="4591202"/>
            <a:ext cx="2667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visited</a:t>
            </a:r>
            <a:endParaRPr lang="en-US" sz="1950" dirty="0"/>
          </a:p>
        </p:txBody>
      </p:sp>
      <p:sp>
        <p:nvSpPr>
          <p:cNvPr id="21" name="Text 9"/>
          <p:cNvSpPr txBox="1"/>
          <p:nvPr/>
        </p:nvSpPr>
        <p:spPr>
          <a:xfrm>
            <a:off x="4800600" y="5029200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vertex joins the MST. Track it in a </a:t>
            </a:r>
            <a:pPr algn="l" indent="0" marL="0">
              <a:lnSpc>
                <a:spcPts val="1958"/>
              </a:lnSpc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set.</a:t>
            </a:r>
            <a:endParaRPr lang="en-US" sz="1350" dirty="0"/>
          </a:p>
        </p:txBody>
      </p:sp>
      <p:sp>
        <p:nvSpPr>
          <p:cNvPr id="22" name="Text 10"/>
          <p:cNvSpPr txBox="1"/>
          <p:nvPr/>
        </p:nvSpPr>
        <p:spPr>
          <a:xfrm>
            <a:off x="8191195" y="304769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EEAD4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500" dirty="0"/>
          </a:p>
        </p:txBody>
      </p:sp>
      <p:sp>
        <p:nvSpPr>
          <p:cNvPr id="23" name="Shape 11"/>
          <p:cNvSpPr/>
          <p:nvPr/>
        </p:nvSpPr>
        <p:spPr>
          <a:xfrm>
            <a:off x="8191195" y="3924605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2"/>
          <p:cNvSpPr txBox="1"/>
          <p:nvPr/>
        </p:nvSpPr>
        <p:spPr>
          <a:xfrm>
            <a:off x="8191195" y="4591202"/>
            <a:ext cx="2667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outgoing edge</a:t>
            </a:r>
            <a:endParaRPr lang="en-US" sz="1950" dirty="0"/>
          </a:p>
        </p:txBody>
      </p:sp>
      <p:sp>
        <p:nvSpPr>
          <p:cNvPr id="25" name="Text 13"/>
          <p:cNvSpPr txBox="1"/>
          <p:nvPr/>
        </p:nvSpPr>
        <p:spPr>
          <a:xfrm>
            <a:off x="8191195" y="5352898"/>
            <a:ext cx="26673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edges from a visited to an unvisited vertex, pick the lowest-weight one.</a:t>
            </a:r>
            <a:endParaRPr lang="en-US" sz="1350" dirty="0"/>
          </a:p>
        </p:txBody>
      </p:sp>
      <p:sp>
        <p:nvSpPr>
          <p:cNvPr id="26" name="Text 14"/>
          <p:cNvSpPr txBox="1"/>
          <p:nvPr/>
        </p:nvSpPr>
        <p:spPr>
          <a:xfrm>
            <a:off x="11582705" y="3047695"/>
            <a:ext cx="2667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EEAD4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500" dirty="0"/>
          </a:p>
        </p:txBody>
      </p:sp>
      <p:sp>
        <p:nvSpPr>
          <p:cNvPr id="27" name="Shape 15"/>
          <p:cNvSpPr/>
          <p:nvPr/>
        </p:nvSpPr>
        <p:spPr>
          <a:xfrm>
            <a:off x="11582705" y="3924605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6"/>
          <p:cNvSpPr txBox="1"/>
          <p:nvPr/>
        </p:nvSpPr>
        <p:spPr>
          <a:xfrm>
            <a:off x="11582705" y="4591202"/>
            <a:ext cx="2667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 &amp; vertex</a:t>
            </a:r>
            <a:endParaRPr lang="en-US" sz="1950" dirty="0"/>
          </a:p>
        </p:txBody>
      </p:sp>
      <p:sp>
        <p:nvSpPr>
          <p:cNvPr id="29" name="Text 17"/>
          <p:cNvSpPr txBox="1"/>
          <p:nvPr/>
        </p:nvSpPr>
        <p:spPr>
          <a:xfrm>
            <a:off x="11582705" y="5029200"/>
            <a:ext cx="26673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that edge and mark the new vertex visited. The tree grows by one.</a:t>
            </a:r>
            <a:endParaRPr lang="en-US" sz="1350" dirty="0"/>
          </a:p>
        </p:txBody>
      </p:sp>
      <p:sp>
        <p:nvSpPr>
          <p:cNvPr id="30" name="Text 18"/>
          <p:cNvSpPr txBox="1"/>
          <p:nvPr/>
        </p:nvSpPr>
        <p:spPr>
          <a:xfrm>
            <a:off x="14973300" y="3047695"/>
            <a:ext cx="20958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5B945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4973300" y="3924605"/>
            <a:ext cx="457200" cy="457200"/>
          </a:xfrm>
          <a:prstGeom prst="ellipse">
            <a:avLst/>
          </a:prstGeom>
          <a:solidFill>
            <a:srgbClr val="F5B9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0"/>
          <p:cNvSpPr txBox="1"/>
          <p:nvPr/>
        </p:nvSpPr>
        <p:spPr>
          <a:xfrm>
            <a:off x="14973300" y="4591202"/>
            <a:ext cx="20007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950" dirty="0"/>
          </a:p>
        </p:txBody>
      </p:sp>
      <p:sp>
        <p:nvSpPr>
          <p:cNvPr id="33" name="Text 21"/>
          <p:cNvSpPr txBox="1"/>
          <p:nvPr/>
        </p:nvSpPr>
        <p:spPr>
          <a:xfrm>
            <a:off x="14973300" y="5029200"/>
            <a:ext cx="2000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every vertex is in — the MST is complete.</a:t>
            </a:r>
            <a:endParaRPr lang="en-US" sz="1350" dirty="0"/>
          </a:p>
        </p:txBody>
      </p:sp>
      <p:sp>
        <p:nvSpPr>
          <p:cNvPr id="34" name="Text 22"/>
          <p:cNvSpPr txBox="1"/>
          <p:nvPr/>
        </p:nvSpPr>
        <p:spPr>
          <a:xfrm>
            <a:off x="1447495" y="7010705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snapshot</a:t>
            </a:r>
            <a:endParaRPr lang="en-US" sz="975" dirty="0"/>
          </a:p>
        </p:txBody>
      </p:sp>
      <p:sp>
        <p:nvSpPr>
          <p:cNvPr id="35" name="Text 23"/>
          <p:cNvSpPr txBox="1"/>
          <p:nvPr/>
        </p:nvSpPr>
        <p:spPr>
          <a:xfrm>
            <a:off x="1447495" y="7229246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grows one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at a time</a:t>
            </a:r>
            <a:endParaRPr lang="en-US" sz="2100" dirty="0"/>
          </a:p>
        </p:txBody>
      </p:sp>
      <p:sp>
        <p:nvSpPr>
          <p:cNvPr id="36" name="Text 24"/>
          <p:cNvSpPr txBox="1"/>
          <p:nvPr/>
        </p:nvSpPr>
        <p:spPr>
          <a:xfrm>
            <a:off x="1447495" y="8048549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nodes turn amber. The cheapest outgoing edge joins a new vertex on each iteration.</a:t>
            </a:r>
            <a:endParaRPr lang="en-US" sz="1200" dirty="0"/>
          </a:p>
        </p:txBody>
      </p:sp>
      <p:pic>
        <p:nvPicPr>
          <p:cNvPr id="37" name="Image 10" descr="gen-dedup-37575688c46dd2efad4b74db75342d42.png">    </p:cNvPr>
          <p:cNvPicPr>
            <a:picLocks noChangeAspect="1"/>
          </p:cNvPicPr>
          <p:nvPr/>
        </p:nvPicPr>
        <p:blipFill>
          <a:blip r:embed="rId11"/>
          <a:srcRect l="0" r="0" t="-3" b="-3"/>
          <a:stretch/>
        </p:blipFill>
        <p:spPr>
          <a:xfrm>
            <a:off x="4953305" y="7048195"/>
            <a:ext cx="6286500" cy="21909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12115800" y="7010705"/>
            <a:ext cx="47247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note</a:t>
            </a:r>
            <a:endParaRPr lang="en-US" sz="975" dirty="0"/>
          </a:p>
        </p:txBody>
      </p:sp>
      <p:sp>
        <p:nvSpPr>
          <p:cNvPr id="39" name="Text 26"/>
          <p:cNvSpPr txBox="1"/>
          <p:nvPr/>
        </p:nvSpPr>
        <p:spPr>
          <a:xfrm>
            <a:off x="12115800" y="7229246"/>
            <a:ext cx="4724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minimum at each</a:t>
            </a:r>
            <a:pPr algn="l" indent="0" marL="0">
              <a:buNone/>
            </a:pPr>
            <a:endParaRPr lang="en-US" sz="2550" dirty="0"/>
          </a:p>
          <a:p>
            <a:pPr algn="l" indent="0" marL="0">
              <a:buNone/>
            </a:pPr>
            <a:r>
              <a:rPr lang="en-US" sz="2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global optimum.</a:t>
            </a:r>
            <a:endParaRPr lang="en-US" sz="2550" dirty="0"/>
          </a:p>
        </p:txBody>
      </p:sp>
      <p:sp>
        <p:nvSpPr>
          <p:cNvPr id="40" name="Text 27"/>
          <p:cNvSpPr txBox="1"/>
          <p:nvPr/>
        </p:nvSpPr>
        <p:spPr>
          <a:xfrm>
            <a:off x="12115800" y="8248802"/>
            <a:ext cx="47247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never reconsiders. It is a 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algorithm — but the proof shows every local pick lands inside some MST, so the final tree is provably minimum.</a:t>
            </a:r>
            <a:endParaRPr lang="en-US" sz="1350" dirty="0"/>
          </a:p>
        </p:txBody>
      </p:sp>
      <p:sp>
        <p:nvSpPr>
          <p:cNvPr id="41" name="Text 28"/>
          <p:cNvSpPr txBox="1"/>
          <p:nvPr/>
        </p:nvSpPr>
        <p:spPr>
          <a:xfrm>
            <a:off x="1591056" y="4019702"/>
            <a:ext cx="11338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42" name="Text 29"/>
          <p:cNvSpPr txBox="1"/>
          <p:nvPr/>
        </p:nvSpPr>
        <p:spPr>
          <a:xfrm>
            <a:off x="4967021" y="4019702"/>
            <a:ext cx="1335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43" name="Text 30"/>
          <p:cNvSpPr txBox="1"/>
          <p:nvPr/>
        </p:nvSpPr>
        <p:spPr>
          <a:xfrm>
            <a:off x="8356702" y="4019702"/>
            <a:ext cx="1335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44" name="Text 31"/>
          <p:cNvSpPr txBox="1"/>
          <p:nvPr/>
        </p:nvSpPr>
        <p:spPr>
          <a:xfrm>
            <a:off x="11744554" y="4019702"/>
            <a:ext cx="1335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sp>
        <p:nvSpPr>
          <p:cNvPr id="45" name="Text 32"/>
          <p:cNvSpPr txBox="1"/>
          <p:nvPr/>
        </p:nvSpPr>
        <p:spPr>
          <a:xfrm>
            <a:off x="15138806" y="4019702"/>
            <a:ext cx="1335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58a5612003f7605896e5128a3d23a2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584ee6241d2336aff6ffb9cdafcb8cb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2857500"/>
            <a:ext cx="10306202" cy="6877202"/>
          </a:xfrm>
          <a:prstGeom prst="rect">
            <a:avLst/>
          </a:prstGeom>
        </p:spPr>
      </p:pic>
      <p:pic>
        <p:nvPicPr>
          <p:cNvPr id="4" name="Image 2" descr="gen-dedup-3889f1bc89967bcb2a4ee0edc3bc5e3e.png">    </p:cNvPr>
          <p:cNvPicPr>
            <a:picLocks noChangeAspect="1"/>
          </p:cNvPicPr>
          <p:nvPr/>
        </p:nvPicPr>
        <p:blipFill>
          <a:blip r:embed="rId3"/>
          <a:srcRect l="-2" r="-2" t="0" b="0"/>
          <a:stretch/>
        </p:blipFill>
        <p:spPr>
          <a:xfrm>
            <a:off x="11430000" y="2857500"/>
            <a:ext cx="6115507" cy="4591202"/>
          </a:xfrm>
          <a:prstGeom prst="rect">
            <a:avLst/>
          </a:prstGeom>
        </p:spPr>
      </p:pic>
      <p:pic>
        <p:nvPicPr>
          <p:cNvPr id="5" name="Image 3" descr="gen-dedup-c2ca72f1cbe8a57a70037861b15d1556.png">    </p:cNvPr>
          <p:cNvPicPr>
            <a:picLocks noChangeAspect="1"/>
          </p:cNvPicPr>
          <p:nvPr/>
        </p:nvPicPr>
        <p:blipFill>
          <a:blip r:embed="rId4"/>
          <a:srcRect l="-11" r="-11" t="0" b="0"/>
          <a:stretch/>
        </p:blipFill>
        <p:spPr>
          <a:xfrm>
            <a:off x="11430000" y="7715707"/>
            <a:ext cx="6115507" cy="20189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761695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Worked example</a:t>
            </a:r>
            <a:endParaRPr lang="en-US" sz="1350" dirty="0"/>
          </a:p>
        </p:txBody>
      </p:sp>
      <p:sp>
        <p:nvSpPr>
          <p:cNvPr id="7" name="Text 1"/>
          <p:cNvSpPr txBox="1"/>
          <p:nvPr/>
        </p:nvSpPr>
        <p:spPr>
          <a:xfrm>
            <a:off x="1123798" y="1123798"/>
            <a:ext cx="142875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65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vertices, eight edges —</a:t>
            </a:r>
            <a:pPr algn="l" indent="0" marL="0">
              <a:lnSpc>
                <a:spcPct val="105000"/>
              </a:lnSpc>
              <a:buNone/>
            </a:pPr>
            <a:endParaRPr lang="en-US" sz="4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350" b="1" spc="-65" kern="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four win.</a:t>
            </a:r>
            <a:endParaRPr lang="en-US" sz="4350" dirty="0"/>
          </a:p>
        </p:txBody>
      </p:sp>
      <p:pic>
        <p:nvPicPr>
          <p:cNvPr id="8" name="Image 4" descr="gen-dedup-d609985f2762cc8a5350bd2d06f4e7dd.png">    </p:cNvPr>
          <p:cNvPicPr>
            <a:picLocks noChangeAspect="1"/>
          </p:cNvPicPr>
          <p:nvPr/>
        </p:nvPicPr>
        <p:blipFill>
          <a:blip r:embed="rId5"/>
          <a:srcRect l="0" r="0" t="-390" b="-390"/>
          <a:stretch/>
        </p:blipFill>
        <p:spPr>
          <a:xfrm>
            <a:off x="1143000" y="2495398"/>
            <a:ext cx="1524305" cy="19202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43000" y="312450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graph</a:t>
            </a:r>
            <a:endParaRPr lang="en-US" sz="975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3372307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vertices · 8 weighted edges</a:t>
            </a:r>
            <a:endParaRPr lang="en-US" sz="1950" dirty="0"/>
          </a:p>
        </p:txBody>
      </p:sp>
      <p:pic>
        <p:nvPicPr>
          <p:cNvPr id="11" name="Image 5" descr="gen-dedup-356814a71b1ddff26a406d0dc7df9c75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143000" y="4091026"/>
            <a:ext cx="228600" cy="3840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505102" y="4000500"/>
            <a:ext cx="61904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MST</a:t>
            </a:r>
            <a:endParaRPr lang="en-US" sz="1350" dirty="0"/>
          </a:p>
        </p:txBody>
      </p:sp>
      <p:pic>
        <p:nvPicPr>
          <p:cNvPr id="13" name="Image 6" descr="gen-dedup-66571dd88fd082eb8075364cf3bcf49d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1143000" y="4414723"/>
            <a:ext cx="228600" cy="19202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505102" y="4315054"/>
            <a:ext cx="10323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lang="en-US" sz="1350" dirty="0"/>
          </a:p>
        </p:txBody>
      </p:sp>
      <p:sp>
        <p:nvSpPr>
          <p:cNvPr id="15" name="Shape 6"/>
          <p:cNvSpPr/>
          <p:nvPr/>
        </p:nvSpPr>
        <p:spPr>
          <a:xfrm>
            <a:off x="1143000" y="4686300"/>
            <a:ext cx="247802" cy="247802"/>
          </a:xfrm>
          <a:prstGeom prst="ellipse">
            <a:avLst/>
          </a:prstGeom>
          <a:solidFill>
            <a:srgbClr val="0B1426"/>
          </a:solidFill>
          <a:ln w="38100">
            <a:solidFill>
              <a:srgbClr val="F5B945"/>
            </a:solidFill>
            <a:prstDash val="solid"/>
          </a:ln>
        </p:spPr>
      </p:sp>
      <p:sp>
        <p:nvSpPr>
          <p:cNvPr id="16" name="Text 7"/>
          <p:cNvSpPr txBox="1"/>
          <p:nvPr/>
        </p:nvSpPr>
        <p:spPr>
          <a:xfrm>
            <a:off x="1524305" y="4710074"/>
            <a:ext cx="104333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vertex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1143000" y="933419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· weighted · connectivity assumed</a:t>
            </a:r>
            <a:endParaRPr lang="en-US" sz="1050" dirty="0"/>
          </a:p>
        </p:txBody>
      </p:sp>
      <p:pic>
        <p:nvPicPr>
          <p:cNvPr id="18" name="Image 7" descr="gen-dedup-bb28fbb2133af8132579af8e65e710ef.png">    </p:cNvPr>
          <p:cNvPicPr>
            <a:picLocks noChangeAspect="1"/>
          </p:cNvPicPr>
          <p:nvPr/>
        </p:nvPicPr>
        <p:blipFill>
          <a:blip r:embed="rId8"/>
          <a:srcRect l="0" r="0" t="-7918" b="-7918"/>
          <a:stretch/>
        </p:blipFill>
        <p:spPr>
          <a:xfrm>
            <a:off x="3619195" y="3238805"/>
            <a:ext cx="7048195" cy="57150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734495" y="312450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734495" y="3504895"/>
          <a:ext cx="5524805" cy="3200400"/>
        </p:xfrm>
        <a:graphic>
          <a:graphicData uri="http://schemas.openxmlformats.org/drawingml/2006/table">
            <a:tbl>
              <a:tblPr/>
              <a:tblGrid>
                <a:gridCol w="1152144"/>
                <a:gridCol w="1124712"/>
                <a:gridCol w="1436522"/>
                <a:gridCol w="1811426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>
                        <a:alpha val="8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0"/>
          <p:cNvSpPr txBox="1"/>
          <p:nvPr/>
        </p:nvSpPr>
        <p:spPr>
          <a:xfrm>
            <a:off x="11734495" y="7962595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total cost</a:t>
            </a:r>
            <a:endParaRPr lang="en-US" sz="975" dirty="0"/>
          </a:p>
        </p:txBody>
      </p:sp>
      <p:sp>
        <p:nvSpPr>
          <p:cNvPr id="22" name="Text 11"/>
          <p:cNvSpPr txBox="1"/>
          <p:nvPr/>
        </p:nvSpPr>
        <p:spPr>
          <a:xfrm>
            <a:off x="11734495" y="8257946"/>
            <a:ext cx="3620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tree · 4 edges</a:t>
            </a:r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all 5 vertices.</a:t>
            </a:r>
            <a:endParaRPr lang="en-US" sz="1650" dirty="0"/>
          </a:p>
        </p:txBody>
      </p:sp>
      <p:sp>
        <p:nvSpPr>
          <p:cNvPr id="23" name="Text 12"/>
          <p:cNvSpPr txBox="1"/>
          <p:nvPr/>
        </p:nvSpPr>
        <p:spPr>
          <a:xfrm>
            <a:off x="15880385" y="8096098"/>
            <a:ext cx="1709928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0" b="1" spc="-420" kern="0" dirty="0">
                <a:solidFill>
                  <a:srgbClr val="F5B9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aacb97931e906f35ec5d45e32aafc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527a9008607ba1c7a8fc1668bec95f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2115007"/>
            <a:ext cx="9734702" cy="3448202"/>
          </a:xfrm>
          <a:prstGeom prst="rect">
            <a:avLst/>
          </a:prstGeom>
        </p:spPr>
      </p:pic>
      <p:pic>
        <p:nvPicPr>
          <p:cNvPr id="4" name="Image 2" descr="gen-dedup-4ba654efbee9340f86649303c3f1e69a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10858500" y="2115007"/>
            <a:ext cx="6877202" cy="1638605"/>
          </a:xfrm>
          <a:prstGeom prst="rect">
            <a:avLst/>
          </a:prstGeom>
        </p:spPr>
      </p:pic>
      <p:pic>
        <p:nvPicPr>
          <p:cNvPr id="5" name="Image 3" descr="gen-dedup-12f4fc4e6e13df5b431aa61bbed30c0a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10858500" y="3924605"/>
            <a:ext cx="6877202" cy="163860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143000" y="6286500"/>
            <a:ext cx="3924605" cy="1162202"/>
          </a:xfrm>
          <a:prstGeom prst="roundRect">
            <a:avLst>
              <a:gd name="adj" fmla="val 9835"/>
            </a:avLst>
          </a:prstGeom>
          <a:solidFill>
            <a:srgbClr val="16223D">
              <a:alpha val="70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5238598" y="6286500"/>
            <a:ext cx="3924605" cy="1162202"/>
          </a:xfrm>
          <a:prstGeom prst="roundRect">
            <a:avLst>
              <a:gd name="adj" fmla="val 9835"/>
            </a:avLst>
          </a:prstGeom>
          <a:solidFill>
            <a:srgbClr val="16223D">
              <a:alpha val="70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9334195" y="6286500"/>
            <a:ext cx="3924605" cy="1162202"/>
          </a:xfrm>
          <a:prstGeom prst="roundRect">
            <a:avLst>
              <a:gd name="adj" fmla="val 9835"/>
            </a:avLst>
          </a:prstGeom>
          <a:solidFill>
            <a:srgbClr val="16223D">
              <a:alpha val="70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3430707" y="6286500"/>
            <a:ext cx="3924605" cy="1162202"/>
          </a:xfrm>
          <a:prstGeom prst="roundRect">
            <a:avLst>
              <a:gd name="adj" fmla="val 9835"/>
            </a:avLst>
          </a:prstGeom>
          <a:solidFill>
            <a:srgbClr val="16223D">
              <a:alpha val="70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pic>
        <p:nvPicPr>
          <p:cNvPr id="10" name="Image 4" descr="gen-dedup-856752c107a1948e91db9033b0e51950.png">    </p:cNvPr>
          <p:cNvPicPr>
            <a:picLocks noChangeAspect="1"/>
          </p:cNvPicPr>
          <p:nvPr/>
        </p:nvPicPr>
        <p:blipFill>
          <a:blip r:embed="rId5"/>
          <a:srcRect l="-7" r="-7" t="0" b="0"/>
          <a:stretch/>
        </p:blipFill>
        <p:spPr>
          <a:xfrm>
            <a:off x="761695" y="7733995"/>
            <a:ext cx="7258507" cy="1923898"/>
          </a:xfrm>
          <a:prstGeom prst="rect">
            <a:avLst/>
          </a:prstGeom>
        </p:spPr>
      </p:pic>
      <p:pic>
        <p:nvPicPr>
          <p:cNvPr id="11" name="Image 5" descr="gen-dedup-06d8d640c6c84b296ce32d0b3a0538f2.png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8382305" y="7733995"/>
            <a:ext cx="6305702" cy="1923898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143000" y="666598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 &amp; Context</a:t>
            </a:r>
            <a:endParaRPr lang="en-US" sz="1350" dirty="0"/>
          </a:p>
        </p:txBody>
      </p:sp>
      <p:sp>
        <p:nvSpPr>
          <p:cNvPr id="13" name="Text 5"/>
          <p:cNvSpPr txBox="1"/>
          <p:nvPr/>
        </p:nvSpPr>
        <p:spPr>
          <a:xfrm>
            <a:off x="1123798" y="1028700"/>
            <a:ext cx="15240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63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code, in cost — </a:t>
            </a:r>
            <a:pPr algn="l" indent="0" marL="0">
              <a:buNone/>
            </a:pPr>
            <a:r>
              <a:rPr lang="en-US" sz="4200" b="1" spc="-63" kern="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real world.</a:t>
            </a:r>
            <a:endParaRPr lang="en-US" sz="420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2286000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</a:t>
            </a:r>
            <a:endParaRPr lang="en-US" sz="975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2486254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Prim(G, start)</a:t>
            </a:r>
            <a:endParaRPr lang="en-US" sz="18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2857500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function </a:t>
            </a:r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 = (V, E), s):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3100730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V: key[v] = ∞, parent[v] = null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3343046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key[s] = </a:t>
            </a:r>
            <a:pPr algn="l" indent="0" marL="0">
              <a:buNone/>
            </a:pPr>
            <a:r>
              <a:rPr lang="en-US" sz="1200" dirty="0">
                <a:solidFill>
                  <a:srgbClr val="F5B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3586277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priority queue of V, keyed by key[]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3886200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empty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4129430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vertex in Q with </a:t>
            </a:r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smallest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4371746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remove(u)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1143000" y="4614977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neighbor v of u: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143000" y="4858207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w(u, v) &lt; key[v]: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" y="5100523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key[v] = w(u, v); parent[v] = u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143000" y="5400446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edges { (parent[v], v) : v ≠ s }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1125505" y="2324405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Adjacency matrix</a:t>
            </a:r>
            <a:endParaRPr lang="en-US" sz="975" dirty="0"/>
          </a:p>
        </p:txBody>
      </p:sp>
      <p:sp>
        <p:nvSpPr>
          <p:cNvPr id="28" name="Text 20"/>
          <p:cNvSpPr txBox="1"/>
          <p:nvPr/>
        </p:nvSpPr>
        <p:spPr>
          <a:xfrm>
            <a:off x="11125505" y="2542946"/>
            <a:ext cx="3429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for the cheapest edge</a:t>
            </a:r>
            <a:endParaRPr lang="en-US" sz="1650" dirty="0"/>
          </a:p>
        </p:txBody>
      </p:sp>
      <p:sp>
        <p:nvSpPr>
          <p:cNvPr id="29" name="Text 21"/>
          <p:cNvSpPr txBox="1"/>
          <p:nvPr/>
        </p:nvSpPr>
        <p:spPr>
          <a:xfrm>
            <a:off x="11125505" y="3191256"/>
            <a:ext cx="3429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vertices · E = edges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15868498" y="2667305"/>
            <a:ext cx="180136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4500" dirty="0"/>
          </a:p>
        </p:txBody>
      </p:sp>
      <p:sp>
        <p:nvSpPr>
          <p:cNvPr id="31" name="Text 23"/>
          <p:cNvSpPr txBox="1"/>
          <p:nvPr/>
        </p:nvSpPr>
        <p:spPr>
          <a:xfrm>
            <a:off x="11125505" y="4134002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5B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Adjacency list + min-heap</a:t>
            </a:r>
            <a:endParaRPr lang="en-US" sz="975" dirty="0"/>
          </a:p>
        </p:txBody>
      </p:sp>
      <p:sp>
        <p:nvSpPr>
          <p:cNvPr id="32" name="Text 24"/>
          <p:cNvSpPr txBox="1"/>
          <p:nvPr/>
        </p:nvSpPr>
        <p:spPr>
          <a:xfrm>
            <a:off x="11125505" y="4352544"/>
            <a:ext cx="3238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with decrease-key</a:t>
            </a:r>
            <a:endParaRPr lang="en-US" sz="1650" dirty="0"/>
          </a:p>
        </p:txBody>
      </p:sp>
      <p:sp>
        <p:nvSpPr>
          <p:cNvPr id="33" name="Text 25"/>
          <p:cNvSpPr txBox="1"/>
          <p:nvPr/>
        </p:nvSpPr>
        <p:spPr>
          <a:xfrm>
            <a:off x="11125505" y="5000854"/>
            <a:ext cx="3238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</a:t>
            </a:r>
            <a:pPr algn="l" indent="0" marL="0">
              <a:buNone/>
            </a:pPr>
            <a:r>
              <a:rPr lang="en-US" sz="1350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graphs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14954098" y="4267505"/>
            <a:ext cx="2572207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78" kern="0" dirty="0">
                <a:solidFill>
                  <a:srgbClr val="F5B9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O(E·log V)</a:t>
            </a:r>
            <a:endParaRPr lang="en-US" sz="3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" y="59436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MSTs live</a:t>
            </a:r>
            <a:endParaRPr lang="en-US" sz="975" dirty="0"/>
          </a:p>
        </p:txBody>
      </p:sp>
      <p:sp>
        <p:nvSpPr>
          <p:cNvPr id="36" name="Shape 28"/>
          <p:cNvSpPr/>
          <p:nvPr/>
        </p:nvSpPr>
        <p:spPr>
          <a:xfrm>
            <a:off x="1333195" y="6476695"/>
            <a:ext cx="780898" cy="780898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2286000" y="6476695"/>
            <a:ext cx="25722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650" dirty="0"/>
          </a:p>
        </p:txBody>
      </p:sp>
      <p:sp>
        <p:nvSpPr>
          <p:cNvPr id="38" name="Text 30"/>
          <p:cNvSpPr txBox="1"/>
          <p:nvPr/>
        </p:nvSpPr>
        <p:spPr>
          <a:xfrm>
            <a:off x="2286000" y="6819595"/>
            <a:ext cx="25722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cabling, broadcast trees</a:t>
            </a:r>
            <a:endParaRPr lang="en-US" sz="1125" dirty="0"/>
          </a:p>
        </p:txBody>
      </p:sp>
      <p:sp>
        <p:nvSpPr>
          <p:cNvPr id="39" name="Shape 31"/>
          <p:cNvSpPr/>
          <p:nvPr/>
        </p:nvSpPr>
        <p:spPr>
          <a:xfrm>
            <a:off x="5429707" y="6476695"/>
            <a:ext cx="780898" cy="780898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381598" y="6476695"/>
            <a:ext cx="270205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rail networks</a:t>
            </a:r>
            <a:endParaRPr lang="en-US" sz="1650" dirty="0"/>
          </a:p>
        </p:txBody>
      </p:sp>
      <p:sp>
        <p:nvSpPr>
          <p:cNvPr id="41" name="Text 33"/>
          <p:cNvSpPr txBox="1"/>
          <p:nvPr/>
        </p:nvSpPr>
        <p:spPr>
          <a:xfrm>
            <a:off x="6381598" y="6819595"/>
            <a:ext cx="25722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highway, rail links</a:t>
            </a:r>
            <a:endParaRPr lang="en-US" sz="1125" dirty="0"/>
          </a:p>
        </p:txBody>
      </p:sp>
      <p:sp>
        <p:nvSpPr>
          <p:cNvPr id="42" name="Shape 34"/>
          <p:cNvSpPr/>
          <p:nvPr/>
        </p:nvSpPr>
        <p:spPr>
          <a:xfrm>
            <a:off x="9525305" y="6476695"/>
            <a:ext cx="780898" cy="780898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0477195" y="6476695"/>
            <a:ext cx="25722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grids</a:t>
            </a:r>
            <a:endParaRPr lang="en-US" sz="1650" dirty="0"/>
          </a:p>
        </p:txBody>
      </p:sp>
      <p:sp>
        <p:nvSpPr>
          <p:cNvPr id="44" name="Text 36"/>
          <p:cNvSpPr txBox="1"/>
          <p:nvPr/>
        </p:nvSpPr>
        <p:spPr>
          <a:xfrm>
            <a:off x="10477195" y="6819595"/>
            <a:ext cx="306049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least cable, all served</a:t>
            </a:r>
            <a:endParaRPr lang="en-US" sz="1125" dirty="0"/>
          </a:p>
        </p:txBody>
      </p:sp>
      <p:sp>
        <p:nvSpPr>
          <p:cNvPr id="45" name="Shape 37"/>
          <p:cNvSpPr/>
          <p:nvPr/>
        </p:nvSpPr>
        <p:spPr>
          <a:xfrm>
            <a:off x="13620902" y="6476695"/>
            <a:ext cx="780898" cy="780898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FC">
                <a:alpha val="3000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14573707" y="6476695"/>
            <a:ext cx="25722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650" dirty="0"/>
          </a:p>
        </p:txBody>
      </p:sp>
      <p:sp>
        <p:nvSpPr>
          <p:cNvPr id="47" name="Text 39"/>
          <p:cNvSpPr txBox="1"/>
          <p:nvPr/>
        </p:nvSpPr>
        <p:spPr>
          <a:xfrm>
            <a:off x="14573707" y="6819595"/>
            <a:ext cx="25722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minimum-cost routing</a:t>
            </a:r>
            <a:endParaRPr lang="en-US" sz="1125" dirty="0"/>
          </a:p>
        </p:txBody>
      </p:sp>
      <p:sp>
        <p:nvSpPr>
          <p:cNvPr id="48" name="Text 40"/>
          <p:cNvSpPr txBox="1"/>
          <p:nvPr/>
        </p:nvSpPr>
        <p:spPr>
          <a:xfrm>
            <a:off x="1143000" y="7925105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88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1143000" y="8115300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vs Kruskal</a:t>
            </a:r>
            <a:endParaRPr lang="en-US" sz="1800" dirty="0"/>
          </a:p>
        </p:txBody>
      </p:sp>
      <p:sp>
        <p:nvSpPr>
          <p:cNvPr id="50" name="Text 42"/>
          <p:cNvSpPr txBox="1"/>
          <p:nvPr/>
        </p:nvSpPr>
        <p:spPr>
          <a:xfrm>
            <a:off x="1143000" y="8591702"/>
            <a:ext cx="30102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1143000" y="8802014"/>
            <a:ext cx="301020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start vertex.</a:t>
            </a:r>
            <a:pPr algn="l" indent="0" marL="0">
              <a:lnSpc>
                <a:spcPts val="1631"/>
              </a:lnSpc>
              <a:buNone/>
            </a:pPr>
            <a:endParaRPr lang="en-US" sz="1125" dirty="0"/>
          </a:p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graphs.</a:t>
            </a:r>
            <a:endParaRPr lang="en-US" sz="1125" dirty="0"/>
          </a:p>
        </p:txBody>
      </p:sp>
      <p:pic>
        <p:nvPicPr>
          <p:cNvPr id="52" name="Image 6" descr="gen-dedup-cd6e1da9a1120f519d8adac7726df2a8.png">    </p:cNvPr>
          <p:cNvPicPr>
            <a:picLocks noChangeAspect="1"/>
          </p:cNvPicPr>
          <p:nvPr/>
        </p:nvPicPr>
        <p:blipFill>
          <a:blip r:embed="rId7"/>
          <a:srcRect l="0" r="0" t="-2083" b="-2083"/>
          <a:stretch/>
        </p:blipFill>
        <p:spPr>
          <a:xfrm>
            <a:off x="4376318" y="8591702"/>
            <a:ext cx="9144" cy="914400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4614977" y="8591702"/>
            <a:ext cx="30102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4614977" y="8802014"/>
            <a:ext cx="301020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 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cheapest edges.</a:t>
            </a:r>
            <a:pPr algn="l" indent="0" marL="0">
              <a:lnSpc>
                <a:spcPts val="1631"/>
              </a:lnSpc>
              <a:buNone/>
            </a:pPr>
            <a:endParaRPr lang="en-US" sz="1125" dirty="0"/>
          </a:p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graphs.</a:t>
            </a:r>
            <a:endParaRPr lang="en-US" sz="1125" dirty="0"/>
          </a:p>
        </p:txBody>
      </p:sp>
      <p:sp>
        <p:nvSpPr>
          <p:cNvPr id="55" name="Text 46"/>
          <p:cNvSpPr txBox="1"/>
          <p:nvPr/>
        </p:nvSpPr>
        <p:spPr>
          <a:xfrm>
            <a:off x="8762695" y="7925105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88" kern="0" dirty="0">
                <a:solidFill>
                  <a:srgbClr val="F5B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to remember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8762695" y="8115300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7" name="Text 48"/>
          <p:cNvSpPr txBox="1"/>
          <p:nvPr/>
        </p:nvSpPr>
        <p:spPr>
          <a:xfrm>
            <a:off x="8762695" y="8553298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5B9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cheapest local edge wins each round.</a:t>
            </a:r>
            <a:endParaRPr lang="en-US" sz="1125" dirty="0"/>
          </a:p>
        </p:txBody>
      </p:sp>
      <p:sp>
        <p:nvSpPr>
          <p:cNvPr id="58" name="Text 49"/>
          <p:cNvSpPr txBox="1"/>
          <p:nvPr/>
        </p:nvSpPr>
        <p:spPr>
          <a:xfrm>
            <a:off x="8762695" y="8829446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local pick lives inside some MST.</a:t>
            </a:r>
            <a:endParaRPr lang="en-US" sz="1125" dirty="0"/>
          </a:p>
        </p:txBody>
      </p:sp>
      <p:sp>
        <p:nvSpPr>
          <p:cNvPr id="59" name="Text 50"/>
          <p:cNvSpPr txBox="1"/>
          <p:nvPr/>
        </p:nvSpPr>
        <p:spPr>
          <a:xfrm>
            <a:off x="8762695" y="910559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cable layouts to chip routing.</a:t>
            </a:r>
            <a:endParaRPr lang="en-US" sz="1125" dirty="0"/>
          </a:p>
        </p:txBody>
      </p:sp>
      <p:sp>
        <p:nvSpPr>
          <p:cNvPr id="60" name="Text 51"/>
          <p:cNvSpPr txBox="1"/>
          <p:nvPr/>
        </p:nvSpPr>
        <p:spPr>
          <a:xfrm>
            <a:off x="15641726" y="7968082"/>
            <a:ext cx="1257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312" kern="0" dirty="0">
                <a:solidFill>
                  <a:srgbClr val="F5B9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deck</a:t>
            </a:r>
            <a:endParaRPr lang="en-US" sz="975" dirty="0"/>
          </a:p>
        </p:txBody>
      </p:sp>
      <p:sp>
        <p:nvSpPr>
          <p:cNvPr id="61" name="Text 52"/>
          <p:cNvSpPr txBox="1"/>
          <p:nvPr/>
        </p:nvSpPr>
        <p:spPr>
          <a:xfrm>
            <a:off x="14934895" y="8262518"/>
            <a:ext cx="2667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pPr algn="ctr" indent="0" marL="0">
              <a:lnSpc>
                <a:spcPct val="100000"/>
              </a:lnSpc>
              <a:buNone/>
            </a:pPr>
            <a:r>
              <a:rPr lang="en-US" sz="4500" b="1" spc="-90" kern="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You.</a:t>
            </a:r>
            <a:endParaRPr lang="en-US" sz="4500" dirty="0"/>
          </a:p>
        </p:txBody>
      </p:sp>
      <p:pic>
        <p:nvPicPr>
          <p:cNvPr id="62" name="Image 7" descr="gen-dedup-c38a6c04f6eb21fb85c522bd25fdc851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333195" y="6476695"/>
            <a:ext cx="761695" cy="761695"/>
          </a:xfrm>
          <a:prstGeom prst="rect">
            <a:avLst/>
          </a:prstGeom>
        </p:spPr>
      </p:pic>
      <p:pic>
        <p:nvPicPr>
          <p:cNvPr id="63" name="Image 8" descr="gen-dedup-1752b9ae0592f004ace0b0b4f339f286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29707" y="6476695"/>
            <a:ext cx="761695" cy="761695"/>
          </a:xfrm>
          <a:prstGeom prst="rect">
            <a:avLst/>
          </a:prstGeom>
        </p:spPr>
      </p:pic>
      <p:pic>
        <p:nvPicPr>
          <p:cNvPr id="64" name="Image 9" descr="gen-dedup-42051a10446fdf3d4a1980e2bfcca74c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25305" y="6476695"/>
            <a:ext cx="761695" cy="761695"/>
          </a:xfrm>
          <a:prstGeom prst="rect">
            <a:avLst/>
          </a:prstGeom>
        </p:spPr>
      </p:pic>
      <p:pic>
        <p:nvPicPr>
          <p:cNvPr id="65" name="Image 10" descr="gen-dedup-61efd4968c5cba9d8fbe429184cc4594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3620902" y="6476695"/>
            <a:ext cx="761695" cy="761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2026-10-07T05:49:33Z</dcterms:created>
  <dcterms:modified xsi:type="dcterms:W3CDTF">2026-10-07T05:49:33Z</dcterms:modified>
</cp:coreProperties>
</file>